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30352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-1371600" y="292608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2920" y="914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Familias que confían.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02920" y="16276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Marcas que importan.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502920" y="2514600"/>
            <a:ext cx="384048" cy="3657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2670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voz de referencia en crianza digital — en inglés y español.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" y="29718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voice in digital parenting — in English and Spanish.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 Fateha  ·  @criarsinculpas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347472"/>
            <a:ext cx="16459" cy="4594860"/>
          </a:xfrm>
          <a:prstGeom prst="rect">
            <a:avLst/>
          </a:prstGeom>
          <a:solidFill>
            <a:srgbClr val="1E3035"/>
          </a:solidFill>
          <a:ln w="12700">
            <a:solidFill>
              <a:srgbClr val="1E3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NARI  ·  ABOUT NARI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Educadora en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crianza consciente.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Fundadora de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578608"/>
            <a:ext cx="34290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experiencia vivida, regulación emocional y apoyo práctico para familias reales — incluidas aquellas con neurodivergencia o dinámicas intensas en casa.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ponente: calidez, claridad y utilidad inmediata.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15968" y="347472"/>
            <a:ext cx="4462272" cy="1170432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5968" y="347472"/>
            <a:ext cx="45720" cy="1170432"/>
          </a:xfrm>
          <a:prstGeom prst="rect">
            <a:avLst/>
          </a:prstGeom>
          <a:solidFill>
            <a:srgbClr val="E06B5A"/>
          </a:solidFill>
          <a:ln w="12700">
            <a:solidFill>
              <a:srgbClr val="E06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47548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0" y="731520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con claridad — sin culpa ni alarmismo frente a las pantallas.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645920"/>
            <a:ext cx="4462272" cy="1170432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645920"/>
            <a:ext cx="45720" cy="1170432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77393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2029968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habla de síntomas. Habla del sistema alrededor de ellos.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5968" y="2944368"/>
            <a:ext cx="4462272" cy="1170432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2944368"/>
            <a:ext cx="45720" cy="1170432"/>
          </a:xfrm>
          <a:prstGeom prst="rect">
            <a:avLst/>
          </a:prstGeom>
          <a:solidFill>
            <a:srgbClr val="B09EC8"/>
          </a:solidFill>
          <a:ln w="12700">
            <a:solidFill>
              <a:srgbClr val="B09E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07238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3328416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EN + ES · neurodivergencia · crianza consciente.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15968" y="3840480"/>
            <a:ext cx="4462272" cy="594360"/>
          </a:xfrm>
          <a:prstGeom prst="rect">
            <a:avLst/>
          </a:prstGeom>
          <a:solidFill>
            <a:srgbClr val="4BADA8">
              <a:alpha val="12000"/>
            </a:srgbClr>
          </a:solidFill>
          <a:ln w="6350">
            <a:solidFill>
              <a:srgbClr val="4BADA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9136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· Differentiator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0" y="408736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Bilingüe nativa — alcance único en EE.UU. hispano, México y Latinoamérica.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5486400" y="274320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AUDIENCIA  ·  THE AUDIENCE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2920" y="5943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funciona.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104241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9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1847088" cy="25146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508760"/>
            <a:ext cx="1847088" cy="27432"/>
          </a:xfrm>
          <a:prstGeom prst="rect">
            <a:avLst/>
          </a:prstGeom>
          <a:solidFill>
            <a:srgbClr val="4BADA8">
              <a:alpha val="50000"/>
            </a:srgbClr>
          </a:solidFill>
          <a:ln w="12700">
            <a:solidFill>
              <a:srgbClr val="4BADA8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16916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5%+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12648" y="260604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engagement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promedio del nicho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2648" y="3429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vs. niche avg.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468880" y="1508760"/>
            <a:ext cx="1847088" cy="25146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508760"/>
            <a:ext cx="1847088" cy="27432"/>
          </a:xfrm>
          <a:prstGeom prst="rect">
            <a:avLst/>
          </a:prstGeom>
          <a:solidFill>
            <a:srgbClr val="4BADA8">
              <a:alpha val="50000"/>
            </a:srgbClr>
          </a:solidFill>
          <a:ln w="12700">
            <a:solidFill>
              <a:srgbClr val="4BADA8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78608" y="16916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41M+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2578608" y="260604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Hispanos en EE.UU.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alcanzables vía bilingüe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78608" y="3429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Hispanics via bilingual content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4840" y="1508760"/>
            <a:ext cx="1847088" cy="25146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4840" y="1508760"/>
            <a:ext cx="1847088" cy="27432"/>
          </a:xfrm>
          <a:prstGeom prst="rect">
            <a:avLst/>
          </a:prstGeom>
          <a:solidFill>
            <a:srgbClr val="4BADA8">
              <a:alpha val="50000"/>
            </a:srgbClr>
          </a:solidFill>
          <a:ln w="12700">
            <a:solidFill>
              <a:srgbClr val="4BADA8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44568" y="16916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4544568" y="260604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compra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hogar — alta intención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44568" y="3429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purchase decisions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400800" y="1508760"/>
            <a:ext cx="1847088" cy="25146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1508760"/>
            <a:ext cx="1847088" cy="27432"/>
          </a:xfrm>
          <a:prstGeom prst="rect">
            <a:avLst/>
          </a:prstGeom>
          <a:solidFill>
            <a:srgbClr val="4BADA8">
              <a:alpha val="50000"/>
            </a:srgbClr>
          </a:solidFill>
          <a:ln w="12700">
            <a:solidFill>
              <a:srgbClr val="4BADA8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16916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$5.78</a:t>
            </a:r>
            <a:endParaRPr lang="en-US" sz="3800" dirty="0"/>
          </a:p>
        </p:txBody>
      </p:sp>
      <p:sp>
        <p:nvSpPr>
          <p:cNvPr id="24" name="Text 21"/>
          <p:cNvSpPr/>
          <p:nvPr/>
        </p:nvSpPr>
        <p:spPr>
          <a:xfrm>
            <a:off x="6510528" y="260604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promedio por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en influencer marketing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10528" y="3429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ROI per $1 spent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  ·  WHY IT WORKS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diferencia a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768096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81328"/>
            <a:ext cx="45720" cy="768096"/>
          </a:xfrm>
          <a:prstGeom prst="rect">
            <a:avLst/>
          </a:prstGeom>
          <a:solidFill>
            <a:srgbClr val="E06B5A"/>
          </a:solidFill>
          <a:ln w="12700">
            <a:solidFill>
              <a:srgbClr val="E0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basada en ciencia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infantil, comunicación no violenta y marcos clínicos — no tendencias.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5727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development science and clinical frameworks — not trends.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8138160" cy="768096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13432"/>
            <a:ext cx="45720" cy="76809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04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bilingüe nativo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42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Inglés + español desbloquea el mercado hispano de EE.UU. (41M+), México, España y LATAM.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0" y="24048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Spanish unlocks US Hispanic (41M+), Mexico, Spain &amp; Latin America.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8138160" cy="768096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45536"/>
            <a:ext cx="45720" cy="768096"/>
          </a:xfrm>
          <a:prstGeom prst="rect">
            <a:avLst/>
          </a:prstGeom>
          <a:solidFill>
            <a:srgbClr val="B09EC8"/>
          </a:solidFill>
          <a:ln w="12700">
            <a:solidFill>
              <a:srgbClr val="B09E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369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de alta confianza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audiencias de crianza toman el 80%+ de las decisiones del hogar. La confianza convierte.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323697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Parenting audiences make 80%+ of household decisions. Trust converts.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8138160" cy="768096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77640"/>
            <a:ext cx="45720" cy="768096"/>
          </a:xfrm>
          <a:prstGeom prst="rect">
            <a:avLst/>
          </a:prstGeom>
          <a:solidFill>
            <a:srgbClr val="7A9898"/>
          </a:solidFill>
          <a:ln w="12700">
            <a:solidFill>
              <a:srgbClr val="7A98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69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premium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3068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5%+ frente al promedio del nicho — una audiencia profundamente comprometida.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406908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5%+ engagement rate vs. 3–8% niche average — a deeply invested audience.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6858000" y="-45720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  ·  HOW WE COLLABORATE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2920" y="594360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formatos.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mismo principio.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Auténtico, útil, real.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2633472" cy="27432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975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" y="2286000"/>
            <a:ext cx="2304288" cy="0"/>
          </a:xfrm>
          <a:prstGeom prst="line">
            <a:avLst/>
          </a:prstGeom>
          <a:noFill/>
          <a:ln w="6350">
            <a:solidFill>
              <a:srgbClr val="1E30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237744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0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en lo cotidiano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" y="28163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Day-in-the-Life Integration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7512" y="3063240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aparece en momentos reales de crianza — no como publicidad, sino como parte de la conversación. Reels, Stories, carrusel.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67512" y="393192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product placement within real parenting moments — not ads, but part of the conversation.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64408" y="1828800"/>
            <a:ext cx="2633472" cy="27432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1975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2286000"/>
            <a:ext cx="2304288" cy="0"/>
          </a:xfrm>
          <a:prstGeom prst="line">
            <a:avLst/>
          </a:prstGeom>
          <a:noFill/>
          <a:ln w="6350">
            <a:solidFill>
              <a:srgbClr val="1E30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237744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 de contenido experto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28163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Explainer Series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29000" y="3063240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educativos que posicionan la marca junto a información basada en evidencia. Contenido que enseña y convierte.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29000" y="393192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Reels positioning the brand alongside evidence-based parenting advice.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025896" y="1828800"/>
            <a:ext cx="2633472" cy="2743200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0488" y="1975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9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90488" y="2286000"/>
            <a:ext cx="2304288" cy="0"/>
          </a:xfrm>
          <a:prstGeom prst="line">
            <a:avLst/>
          </a:prstGeom>
          <a:noFill/>
          <a:ln w="6350">
            <a:solidFill>
              <a:srgbClr val="1E30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0488" y="237744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09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Campaña bilingüe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90488" y="28163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Campaign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90488" y="3063240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 inglés y español diseñado para llegar a familias angloparlantes e hispanohablantes simultáneamente.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90488" y="393192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Dual-language content reaching English and Spanish-speaking families simultaneously.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 ·  INVESTMENT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Rangos de referencia.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Personalizamos cada propuesta.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2633472" cy="3218688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36192"/>
            <a:ext cx="2633472" cy="36576"/>
          </a:xfrm>
          <a:prstGeom prst="rect">
            <a:avLst/>
          </a:prstGeom>
          <a:solidFill>
            <a:srgbClr val="8ECFCC"/>
          </a:solidFill>
          <a:ln w="12700">
            <a:solidFill>
              <a:srgbClr val="8EC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733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+ Mención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+ Mention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219456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CF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 – $600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67512" y="2706624"/>
            <a:ext cx="2304288" cy="0"/>
          </a:xfrm>
          <a:prstGeom prst="line">
            <a:avLst/>
          </a:prstGeom>
          <a:noFill/>
          <a:ln w="6350">
            <a:solidFill>
              <a:srgbClr val="1E3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83464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Story (3–5 frames)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" y="317296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Mención en pie de publicación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7512" y="351129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Enlace en bio (48h)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7512" y="38496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ronda de revisión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64408" y="1536192"/>
            <a:ext cx="2633472" cy="3218688"/>
          </a:xfrm>
          <a:prstGeom prst="rect">
            <a:avLst/>
          </a:prstGeom>
          <a:solidFill>
            <a:srgbClr val="0E2B2E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536192"/>
            <a:ext cx="2633472" cy="3657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733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 Integrado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938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219456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 – $1,400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429000" y="2706624"/>
            <a:ext cx="2304288" cy="0"/>
          </a:xfrm>
          <a:prstGeom prst="line">
            <a:avLst/>
          </a:prstGeom>
          <a:noFill/>
          <a:ln w="6350">
            <a:solidFill>
              <a:srgbClr val="1E3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83464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Reel (30–60s)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29000" y="317296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Guión colaborativo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29000" y="351129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Contenido bilingüe opcional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0" y="38496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rondas de revisión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29000" y="418795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Reporte de métricas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25896" y="1536192"/>
            <a:ext cx="2633472" cy="3218688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1536192"/>
            <a:ext cx="2633472" cy="36576"/>
          </a:xfrm>
          <a:prstGeom prst="rect">
            <a:avLst/>
          </a:prstGeom>
          <a:solidFill>
            <a:srgbClr val="E06B5A"/>
          </a:solidFill>
          <a:ln w="12700">
            <a:solidFill>
              <a:srgbClr val="E06B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16733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Campaña Completa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1938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90488" y="219456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 – $3,500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190488" y="2706624"/>
            <a:ext cx="2304288" cy="0"/>
          </a:xfrm>
          <a:prstGeom prst="line">
            <a:avLst/>
          </a:prstGeom>
          <a:noFill/>
          <a:ln w="6350">
            <a:solidFill>
              <a:srgbClr val="1E30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83464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Reels + 4 Stories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0488" y="317296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Serie de contenido (3 piezas)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0488" y="351129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Contenido bilingüe EN/ES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38496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Co-creación estratégica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90488" y="418795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Reporte + métricas detalladas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66344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Todos los proyectos incluyen brief colaborativo y alineación estratégica previa. Tarifas en USD.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5029200" y="-731520"/>
            <a:ext cx="5029200" cy="5029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914400" y="320040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 ·  NEXT STEP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Hablemos.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2103120"/>
            <a:ext cx="320040" cy="3657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224028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8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marca comparte el compromiso de acompañar a las familias con honestidad,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8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colaboración tiene sentido. Propongo una llamada de 30 minutos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8AA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explorar cómo podemos crear algo auténtico juntos.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33375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brand shares a commitment to supporting families with honesty and depth, this collaboration makes sense. Let's spend 30 minutes exploring.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035040" y="960120"/>
            <a:ext cx="2743200" cy="1417320"/>
          </a:xfrm>
          <a:prstGeom prst="rect">
            <a:avLst/>
          </a:prstGeom>
          <a:solidFill>
            <a:srgbClr val="122022"/>
          </a:solidFill>
          <a:ln w="6350">
            <a:solidFill>
              <a:srgbClr val="4BADA8">
                <a:alpha val="6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35040" y="960120"/>
            <a:ext cx="2743200" cy="3657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99632" y="10607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· Contact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199632" y="1298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contact@criarsinculpas.com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99632" y="1554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@criarsinculpas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199632" y="17739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criarsinculpas.com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6858000" y="27432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ESTRATÉGICO  ·  STRATEGIC USE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2920" y="594360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versiones.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536192"/>
            <a:ext cx="3749040" cy="2907792"/>
          </a:xfrm>
          <a:prstGeom prst="rect">
            <a:avLst/>
          </a:prstGeom>
          <a:solidFill>
            <a:srgbClr val="122022"/>
          </a:solidFill>
          <a:ln w="6350">
            <a:solidFill>
              <a:srgbClr val="1E30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536192"/>
            <a:ext cx="3749040" cy="36576"/>
          </a:xfrm>
          <a:prstGeom prst="rect">
            <a:avLst/>
          </a:prstGeom>
          <a:solidFill>
            <a:srgbClr val="9B7EC8"/>
          </a:solidFill>
          <a:ln w="12700">
            <a:solidFill>
              <a:srgbClr val="9B7E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642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7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7280" y="1719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 On-Brand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cálida.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23408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Marcas pequeñas con misión clara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27249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Creadores y emprendedoras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31089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Conversaciones cercanas y cálidas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3493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Cuando el fit cultural es lo primero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3877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Redes, DMs, presentaciones informales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07992" y="1536192"/>
            <a:ext cx="3749040" cy="2907792"/>
          </a:xfrm>
          <a:prstGeom prst="rect">
            <a:avLst/>
          </a:prstGeom>
          <a:solidFill>
            <a:srgbClr val="122022"/>
          </a:solidFill>
          <a:ln w="6350">
            <a:solidFill>
              <a:srgbClr val="4BADA8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07992" y="1536192"/>
            <a:ext cx="3749040" cy="3657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90872" y="16642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102352" y="1719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 Bridge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02352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versión.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90872" y="23408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Marcas medianas y grandes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90872" y="27249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Equipos de marketing y agencias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90872" y="31089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Propuestas formales y licitaciones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90872" y="3493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Cuando la autoridad es lo primero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90872" y="3877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Pitch decks, emails corporativos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" y="4553712"/>
            <a:ext cx="8138160" cy="274320"/>
          </a:xfrm>
          <a:prstGeom prst="rect">
            <a:avLst/>
          </a:prstGeom>
          <a:solidFill>
            <a:srgbClr val="4BADA8">
              <a:alpha val="8000"/>
            </a:srgbClr>
          </a:solidFill>
          <a:ln w="3810">
            <a:solidFill>
              <a:srgbClr val="4BADA8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45720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F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mensaje es el mismo. El tono se adapta. Tú decides cuál abrir.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942332"/>
            <a:ext cx="36576" cy="201168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9423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0" y="49423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Criar Sin Culpas · Kit de Colaboración (Direction B)</dc:title>
  <dc:subject>PptxGenJS Presentation</dc:subject>
  <dc:creator>Luis Gilberto / The Hub</dc:creator>
  <cp:lastModifiedBy>Luis Gilberto / The Hub</cp:lastModifiedBy>
  <cp:revision>1</cp:revision>
  <dcterms:created xsi:type="dcterms:W3CDTF">2026-05-01T02:31:22Z</dcterms:created>
  <dcterms:modified xsi:type="dcterms:W3CDTF">2026-05-01T02:31:22Z</dcterms:modified>
</cp:coreProperties>
</file>