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5303520" y="-1097280"/>
            <a:ext cx="3200400" cy="320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-731520" y="2926080"/>
            <a:ext cx="2560320" cy="256032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6858000" y="3200400"/>
            <a:ext cx="1645920" cy="16459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300" kern="0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SIN CULPAS  ·  KIT DE COLABORACIÓN CON MARCAS</a:t>
            </a:r>
            <a:endParaRPr lang="en-US" sz="750" dirty="0"/>
          </a:p>
        </p:txBody>
      </p:sp>
      <p:sp>
        <p:nvSpPr>
          <p:cNvPr id="6" name="Text 1"/>
          <p:cNvSpPr/>
          <p:nvPr/>
        </p:nvSpPr>
        <p:spPr>
          <a:xfrm>
            <a:off x="502920" y="868680"/>
            <a:ext cx="68580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Colaboraciones que 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i="1" dirty="0">
                <a:solidFill>
                  <a:srgbClr val="7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 tienen sentido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las familias.</a:t>
            </a:r>
            <a:endParaRPr lang="en-US" sz="3800" dirty="0"/>
          </a:p>
        </p:txBody>
      </p:sp>
      <p:sp>
        <p:nvSpPr>
          <p:cNvPr id="7" name="Text 2"/>
          <p:cNvSpPr/>
          <p:nvPr/>
        </p:nvSpPr>
        <p:spPr>
          <a:xfrm>
            <a:off x="50292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 Fateha  ·  @criarsinculpas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502920" y="39502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Educadora en crianza consciente  ·  Bilingüe ES + EN</a:t>
            </a:r>
            <a:endParaRPr lang="en-US" sz="9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502920"/>
            <a:ext cx="292608" cy="29260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804672"/>
            <a:ext cx="201168" cy="20116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841248"/>
            <a:ext cx="164592" cy="164592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1097280"/>
            <a:ext cx="256032" cy="256032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14" name="Text 5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NARI  ·  ABOUT NARI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voz de confianza</a:t>
            </a:r>
            <a:endParaRPr lang="en-US" sz="2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crianza digital.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901952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 Fateha es educadora en crianza y fundadora de Criar Sin Culpas. Su trabajo une experiencia vivida, regulación emocional y apoyo práctico para familias reales — incluidas aquellas que atraviesan neurodivergencia, agotamiento o dinámicas intensas en casa.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ponente, sostiene temas complejos con una mezcla poco común de calidez, claridad conceptual y utilidad inmediata.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617720" y="347472"/>
            <a:ext cx="21488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2" y="438912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82312" y="5120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82312" y="841248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con claridad — sin culpa ni alarmismo frente a las pantallas.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03720" y="347472"/>
            <a:ext cx="21488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2" y="43891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68312" y="51206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068312" y="841248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habla de síntomas. Habla del sistema alrededor de ellos.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17720" y="2121408"/>
            <a:ext cx="21488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2128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82312" y="22860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782312" y="261518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EN + ES · neurodivergencia · crianza consciente.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903720" y="2121408"/>
            <a:ext cx="21488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7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21284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68312" y="22860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7068312" y="2615184"/>
            <a:ext cx="18196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Bilingüe nativa — alcance único en EE.UU. hispano, México y LATAM.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920240"/>
            <a:ext cx="256032" cy="256032"/>
          </a:xfrm>
          <a:prstGeom prst="rect">
            <a:avLst/>
          </a:prstGeom>
        </p:spPr>
      </p:pic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286000"/>
            <a:ext cx="164592" cy="1645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5943600" y="-13716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4400" y="3200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8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AUDIENCIA  ·  THE AUDIENCE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60350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funciona. Why it works.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02920" y="1188720"/>
            <a:ext cx="1847088" cy="24231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132588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5%+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12648" y="22677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engagement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3–8% promedio del nicho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12648" y="3200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vs. niche avg.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2468880" y="1188720"/>
            <a:ext cx="1847088" cy="24231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606040" y="132588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41M+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2578608" y="22677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Hispanos en EE.UU.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alcanzables vía contenido bilingüe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2578608" y="3200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Hispanics via bilingual content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4434840" y="1188720"/>
            <a:ext cx="1847088" cy="24231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132588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44568" y="22677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compra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hogar tomadas por madres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544568" y="3200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purchase decisions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6400800" y="1188720"/>
            <a:ext cx="1847088" cy="242316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37960" y="1325880"/>
            <a:ext cx="15727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A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$5.78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6510528" y="2267712"/>
            <a:ext cx="1627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promedio por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D4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 en influencer marketing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510528" y="3200400"/>
            <a:ext cx="1627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ROI per $1 spent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02920" y="46451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audiencias de crianza toman el 80%+ de las decisiones de compra del hogar — y confían en voces como la de Nari.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  ·  WHY IT WORKS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diferencia a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4864" cy="768096"/>
          </a:xfrm>
          <a:prstGeom prst="rect">
            <a:avLst/>
          </a:prstGeom>
          <a:solidFill>
            <a:srgbClr val="E06B5A"/>
          </a:solidFill>
          <a:ln w="12700">
            <a:solidFill>
              <a:srgbClr val="E06B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481328"/>
            <a:ext cx="8083296" cy="768096"/>
          </a:xfrm>
          <a:prstGeom prst="rect">
            <a:avLst/>
          </a:prstGeom>
          <a:solidFill>
            <a:srgbClr val="FFFFFF">
              <a:alpha val="60000"/>
            </a:srgbClr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54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basada en ciencia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4088" y="179222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tendencias. Desarrollo infantil, comunicación no violenta y marcos clínicos — aplicados a la crianza real.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572768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development science and clinical frameworks — not trends.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54864" cy="768096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7784" y="2340864"/>
            <a:ext cx="8083296" cy="768096"/>
          </a:xfrm>
          <a:prstGeom prst="rect">
            <a:avLst/>
          </a:prstGeom>
          <a:solidFill>
            <a:srgbClr val="FFFFFF">
              <a:alpha val="60000"/>
            </a:srgbClr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414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bilingüe nativo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4088" y="26517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Inglés + español desbloquea el mercado hispano de EE.UU. (41M+), México, España y toda Latinoamérica.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663440" y="2432304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Spanish unlocks US Hispanic market (41M+), Mexico, Spain &amp; Latin America.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3200400"/>
            <a:ext cx="54864" cy="768096"/>
          </a:xfrm>
          <a:prstGeom prst="rect">
            <a:avLst/>
          </a:prstGeom>
          <a:solidFill>
            <a:srgbClr val="7B5FA8"/>
          </a:solidFill>
          <a:ln w="12700">
            <a:solidFill>
              <a:srgbClr val="7B5F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" y="3200400"/>
            <a:ext cx="8083296" cy="768096"/>
          </a:xfrm>
          <a:prstGeom prst="rect">
            <a:avLst/>
          </a:prstGeom>
          <a:solidFill>
            <a:srgbClr val="FFFFFF">
              <a:alpha val="60000"/>
            </a:srgbClr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273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 de alta confianza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351129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audiencias de crianza toman el 80%+ de las decisiones del hogar. La confianza convierte.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3291840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 audiences make 80%+ of household decisions. Trust converts.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4059936"/>
            <a:ext cx="54864" cy="768096"/>
          </a:xfrm>
          <a:prstGeom prst="rect">
            <a:avLst/>
          </a:prstGeom>
          <a:solidFill>
            <a:srgbClr val="C8803A"/>
          </a:solidFill>
          <a:ln w="12700">
            <a:solidFill>
              <a:srgbClr val="C88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" y="4059936"/>
            <a:ext cx="8083296" cy="768096"/>
          </a:xfrm>
          <a:prstGeom prst="rect">
            <a:avLst/>
          </a:prstGeom>
          <a:solidFill>
            <a:srgbClr val="FFFFFF">
              <a:alpha val="60000"/>
            </a:srgbClr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41330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8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premium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4088" y="43708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5%+ de engagement frente al promedio del nicho — una audiencia profundamente comprometida.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63440" y="4151376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5%+ engagement rate vs. 3–8% niche average — a deeply invested audience.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6858000" y="-73152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457200" y="365760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TRABAJAMOS  ·  HOW WE COLLABORATE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59436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formatos. Un mismo principio: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auténtico, útil, real.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02920" y="160020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" y="1600200"/>
            <a:ext cx="2606040" cy="347472"/>
          </a:xfrm>
          <a:prstGeom prst="rect">
            <a:avLst/>
          </a:prstGeom>
          <a:solidFill>
            <a:srgbClr val="E06B5A"/>
          </a:solidFill>
          <a:ln w="12700">
            <a:solidFill>
              <a:srgbClr val="E06B5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30936" y="1627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30936" y="20116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 en lo cotidiano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0936" y="2468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Day-in-the-Life Integration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30936" y="271576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aparece dentro de momentos reales de crianza — no como publicidad, sino como parte de la conversación. Reels, Stories, carrusel.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30936" y="3703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product placement within real parenting moments — not ads, but part of the conversation.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264408" y="160020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64408" y="1600200"/>
            <a:ext cx="2606040" cy="347472"/>
          </a:xfrm>
          <a:prstGeom prst="rect">
            <a:avLst/>
          </a:prstGeom>
          <a:solidFill>
            <a:srgbClr val="4BADA8"/>
          </a:solidFill>
          <a:ln w="12700">
            <a:solidFill>
              <a:srgbClr val="4BADA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92424" y="1627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92424" y="20116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 de contenido experto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92424" y="2468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Explainer Series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392424" y="271576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educativos que posicionan la marca junto a información basada en evidencia. Contenido que enseña y convierte.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92424" y="3703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Reels positioning the brand alongside evidence-based parenting advice.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6025896" y="1600200"/>
            <a:ext cx="260604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8F0"/>
            </a:solidFill>
            <a:prstDash val="solid"/>
          </a:ln>
          <a:effectLst>
            <a:outerShdw sx="100000" sy="100000" kx="0" ky="0" algn="bl" rotWithShape="0" blurRad="1524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25896" y="1600200"/>
            <a:ext cx="2606040" cy="347472"/>
          </a:xfrm>
          <a:prstGeom prst="rect">
            <a:avLst/>
          </a:prstGeom>
          <a:solidFill>
            <a:srgbClr val="7B5FA8"/>
          </a:solidFill>
          <a:ln w="12700">
            <a:solidFill>
              <a:srgbClr val="7B5FA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153912" y="1627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153912" y="201168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 bilingüe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153912" y="2468880"/>
            <a:ext cx="2350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Campaign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153912" y="2715768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 inglés y español diseñado para llegar simultáneamente a familias angloparlantes e hispanohablantes.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153912" y="3703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75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Dual-language content reaching English and Spanish-speaking families simultaneously.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 ·  INVESTMENT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Rangos de referencia.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Personalizamos cada propuesta.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7556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+ Mención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04825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A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Mention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7512" y="2322576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$350 – $600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67512" y="2807208"/>
            <a:ext cx="2231136" cy="0"/>
          </a:xfrm>
          <a:prstGeom prst="line">
            <a:avLst/>
          </a:prstGeom>
          <a:noFill/>
          <a:ln w="6350">
            <a:solidFill>
              <a:srgbClr val="E0D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96265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Story (3–5 frames)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7512" y="3310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Mención en pie de publicación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7512" y="36576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Enlace en bio (48h)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40050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ronda de revisión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18688" y="1572768"/>
            <a:ext cx="2560320" cy="3291840"/>
          </a:xfrm>
          <a:prstGeom prst="rect">
            <a:avLst/>
          </a:prstGeom>
          <a:solidFill>
            <a:srgbClr val="7B5FA8"/>
          </a:solidFill>
          <a:ln w="12700">
            <a:solidFill>
              <a:srgbClr val="7B5FA8"/>
            </a:solidFill>
            <a:prstDash val="solid"/>
          </a:ln>
          <a:effectLst>
            <a:outerShdw sx="100000" sy="100000" kx="0" ky="0" algn="bl" rotWithShape="0" blurRad="228600" dist="254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17556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 Integrado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04825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4B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Reel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2322576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 – $1,400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83280" y="2807208"/>
            <a:ext cx="2231136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96265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 Reel (30–60s)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3310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Guión colaborativo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6576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Contenido bilingüe opcional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40050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rondas de revisión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435254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Reporte de métricas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34456" y="1572768"/>
            <a:ext cx="25603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99048" y="175564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Campaña Completa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9048" y="2048256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0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Campaign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99048" y="2322576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 – $3,500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99048" y="2807208"/>
            <a:ext cx="2231136" cy="0"/>
          </a:xfrm>
          <a:prstGeom prst="line">
            <a:avLst/>
          </a:prstGeom>
          <a:noFill/>
          <a:ln w="6350">
            <a:solidFill>
              <a:srgbClr val="E0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99048" y="2962656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Reels + 4 Stories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99048" y="3310128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Serie de contenido (3 piezas)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9048" y="365760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Contenido bilingüe EN/ES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99048" y="400507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Co-creación estratégica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9048" y="435254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Reporte + métricas detalladas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Todos los proyectos incluyen brief colaborativo y alineación estratégica previa. Tarifas en USD. Adaptaciones disponibles para marcas latinoamericanas.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5029200" y="-109728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-1097280" y="2743200"/>
            <a:ext cx="3657600" cy="3657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657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8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  ·  NEXT STEP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71323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Hablemos.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502920" y="1600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8A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talk.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02920" y="22860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8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marca comparte el compromiso de acompañar a las familias con honestidad,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8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colaboración tiene sentido. Propongo una llamada de 30 minutos</a:t>
            </a:r>
            <a:endParaRPr lang="en-US" sz="11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8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explorar cómo podemos crear algo auténtico juntos.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342900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i="1" dirty="0">
                <a:solidFill>
                  <a:srgbClr val="8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brand shares a commitment to supporting families with honesty and depth, this collaboration makes sense. Let's spend 30 minutes exploring.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943600" y="868680"/>
            <a:ext cx="2743200" cy="14173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80760" y="987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8EC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· Contact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080760" y="1261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contact@criarsinculpas.com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080760" y="15361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@criarsinculpas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080760" y="17647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criarsinculpas.com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14600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23160"/>
            <a:ext cx="182880" cy="182880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578608"/>
            <a:ext cx="146304" cy="146304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743200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19" name="Text 11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7132320" y="-548640"/>
            <a:ext cx="2743200" cy="2743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24000"/>
          </a:blip>
          <a:stretch>
            <a:fillRect/>
          </a:stretch>
        </p:blipFill>
        <p:spPr>
          <a:xfrm>
            <a:off x="-548640" y="3474720"/>
            <a:ext cx="2286000" cy="228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250" kern="0" dirty="0">
                <a:solidFill>
                  <a:srgbClr val="7B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ESTRATÉGICO  ·  STRATEGIC USE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2920" y="594360"/>
            <a:ext cx="4572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versiones.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sistema.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02920" y="1536192"/>
            <a:ext cx="3749040" cy="2907792"/>
          </a:xfrm>
          <a:prstGeom prst="rect">
            <a:avLst/>
          </a:prstGeom>
          <a:solidFill>
            <a:srgbClr val="EDE8F5">
              <a:alpha val="70000"/>
            </a:srgbClr>
          </a:solidFill>
          <a:ln w="6350">
            <a:solidFill>
              <a:srgbClr val="C0AE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858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5F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161288" y="1719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On-Brand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61288" y="2066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versión.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85800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Marcas pequeñas con misión clara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85800" y="2770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Creadores y emprendedoras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85800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Conversaciones cercanas y cálidas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85800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Cuando el fit cultural es lo primero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85800" y="3950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Redes, DMs, presentaciones informales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07992" y="1536192"/>
            <a:ext cx="3749040" cy="2907792"/>
          </a:xfrm>
          <a:prstGeom prst="rect">
            <a:avLst/>
          </a:prstGeom>
          <a:solidFill>
            <a:srgbClr val="2D2038">
              <a:alpha val="12000"/>
            </a:srgbClr>
          </a:solidFill>
          <a:ln w="6350">
            <a:solidFill>
              <a:srgbClr val="4B3A6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69087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BAD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5166360" y="17190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 Bridge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66360" y="20665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oscura.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690872" y="2377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Marcas medianas y grandes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690872" y="2770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Equipos de marketing y agencias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90872" y="316382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Propuestas formales y licitaciones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690872" y="35570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Cuando la autoridad es lo primero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690872" y="3950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Pitch decks, emails corporativos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02920" y="45537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mensaje es el mismo. El tono se adapta. Tú decides cuál abrir.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02920" y="48874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Criar Sin Culpas · Kit de Colaboración con Marcas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8275320" y="48874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B8A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Criar Sin Culpas · Kit de Colaboración (Direction A)</dc:title>
  <dc:subject>PptxGenJS Presentation</dc:subject>
  <dc:creator>Luis Gilberto / The Hub</dc:creator>
  <cp:lastModifiedBy>Luis Gilberto / The Hub</cp:lastModifiedBy>
  <cp:revision>1</cp:revision>
  <dcterms:created xsi:type="dcterms:W3CDTF">2026-05-01T02:31:21Z</dcterms:created>
  <dcterms:modified xsi:type="dcterms:W3CDTF">2026-05-01T02:31:21Z</dcterms:modified>
</cp:coreProperties>
</file>